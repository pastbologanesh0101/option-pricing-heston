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514600"/>
            <a:ext cx="93268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96926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06070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Pricing Under Stochastic Volatility  |  Review 2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502920"/>
            <a:ext cx="2011680" cy="2011680"/>
          </a:xfrm>
          <a:prstGeom prst="ellipse">
            <a:avLst/>
          </a:prstGeom>
          <a:solidFill>
            <a:srgbClr val="2A3570"/>
          </a:solidFill>
          <a:ln/>
        </p:spPr>
      </p:sp>
      <p:sp>
        <p:nvSpPr>
          <p:cNvPr id="3" name="Shape 1"/>
          <p:cNvSpPr/>
          <p:nvPr/>
        </p:nvSpPr>
        <p:spPr>
          <a:xfrm>
            <a:off x="10012680" y="868680"/>
            <a:ext cx="1280160" cy="12801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057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·  PROGRESS UPDATE</a:t>
            </a:r>
            <a:endParaRPr lang="en-US" sz="14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731520" y="2514600"/>
            <a:ext cx="9326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Pricing Under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Stochastic Volatility</a:t>
            </a:r>
            <a:endParaRPr lang="en-US" sz="4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731520" y="397764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Heston Model and Machine Learning to Make Option Pricing Faster and More Honest About Its Own Uncertainty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760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Rikhil Modalavalasa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25BCE2884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Vishwanathan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A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25BCE2885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10% to 70%: What Changed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F0F1F7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14400" y="1691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 — the idea, on paper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5176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+ motivation slides only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written yet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defined (7 steps), untested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417320"/>
            <a:ext cx="5349240" cy="4480560"/>
          </a:xfrm>
          <a:prstGeom prst="roundRect">
            <a:avLst>
              <a:gd name="adj" fmla="val 163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 —  TODAY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 — a working, verified pipeline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265176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6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of 7 roadmap steps implemented and tested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6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checked against a known benchmark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6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ML calibrator with honest uncertainty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6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code pushed to a public GitHub repo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5212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github.com/pastbologanesh0101/option-pricing-heston</a:t>
            </a:r>
            <a:endParaRPr lang="en-US" sz="1100" dirty="0"/>
          </a:p>
        </p:txBody>
      </p:sp>
      <p:sp>
        <p:nvSpPr>
          <p:cNvPr id="12" name="Text 1"/>
          <p:cNvSpPr/>
          <p:nvPr>
            <p:ph idx="102" type="body" hasCustomPrompt="1"/>
          </p:nvPr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7-Step Roadmap: Status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71600" y="2308860"/>
            <a:ext cx="905256" cy="0"/>
          </a:xfrm>
          <a:prstGeom prst="line">
            <a:avLst/>
          </a:prstGeom>
          <a:noFill/>
          <a:ln w="25400">
            <a:solidFill>
              <a:srgbClr val="D6DAE6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685800" y="1965960"/>
            <a:ext cx="685800" cy="685800"/>
          </a:xfrm>
          <a:prstGeom prst="ellipse">
            <a:avLst/>
          </a:prstGeom>
          <a:solidFill>
            <a:srgbClr val="2F7D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384048" y="2788920"/>
            <a:ext cx="1289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3127248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GBM + Black-Scholes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62656" y="2308860"/>
            <a:ext cx="905256" cy="0"/>
          </a:xfrm>
          <a:prstGeom prst="line">
            <a:avLst/>
          </a:prstGeom>
          <a:noFill/>
          <a:ln w="25400">
            <a:solidFill>
              <a:srgbClr val="D6DAE6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2276856" y="1965960"/>
            <a:ext cx="685800" cy="685800"/>
          </a:xfrm>
          <a:prstGeom prst="ellipse">
            <a:avLst/>
          </a:prstGeom>
          <a:solidFill>
            <a:srgbClr val="2F7D5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76856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788920"/>
            <a:ext cx="1289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865376" y="3127248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+ variance reduction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53712" y="2308860"/>
            <a:ext cx="905256" cy="0"/>
          </a:xfrm>
          <a:prstGeom prst="line">
            <a:avLst/>
          </a:prstGeom>
          <a:noFill/>
          <a:ln w="25400">
            <a:solidFill>
              <a:srgbClr val="D6DAE6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867912" y="1965960"/>
            <a:ext cx="685800" cy="685800"/>
          </a:xfrm>
          <a:prstGeom prst="ellipse">
            <a:avLst/>
          </a:prstGeom>
          <a:solidFill>
            <a:srgbClr val="2F7D5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67912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788920"/>
            <a:ext cx="1289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Realism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456432" y="3127248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Heston stochastic volatility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44768" y="2308860"/>
            <a:ext cx="905256" cy="0"/>
          </a:xfrm>
          <a:prstGeom prst="line">
            <a:avLst/>
          </a:prstGeom>
          <a:noFill/>
          <a:ln w="25400">
            <a:solidFill>
              <a:srgbClr val="D6DAE6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458968" y="1965960"/>
            <a:ext cx="685800" cy="685800"/>
          </a:xfrm>
          <a:prstGeom prst="ellipse">
            <a:avLst/>
          </a:prstGeom>
          <a:solidFill>
            <a:srgbClr val="2F7D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58968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5157216" y="2788920"/>
            <a:ext cx="1289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047488" y="3127248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6,000-sample training set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35824" y="2308860"/>
            <a:ext cx="905256" cy="0"/>
          </a:xfrm>
          <a:prstGeom prst="line">
            <a:avLst/>
          </a:prstGeom>
          <a:noFill/>
          <a:ln w="25400">
            <a:solidFill>
              <a:srgbClr val="D6DAE6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050024" y="1965960"/>
            <a:ext cx="685800" cy="685800"/>
          </a:xfrm>
          <a:prstGeom prst="ellipse">
            <a:avLst/>
          </a:prstGeom>
          <a:solidFill>
            <a:srgbClr val="2F7D5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50024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748272" y="2788920"/>
            <a:ext cx="1289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638544" y="3127248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+ ML, prices → params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326880" y="2308860"/>
            <a:ext cx="905256" cy="0"/>
          </a:xfrm>
          <a:prstGeom prst="line">
            <a:avLst/>
          </a:prstGeom>
          <a:noFill/>
          <a:ln w="25400">
            <a:solidFill>
              <a:srgbClr val="D6DAE6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641080" y="1965960"/>
            <a:ext cx="685800" cy="685800"/>
          </a:xfrm>
          <a:prstGeom prst="ellipse">
            <a:avLst/>
          </a:prstGeom>
          <a:solidFill>
            <a:srgbClr val="2F7D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4108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8339328" y="2788920"/>
            <a:ext cx="1289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3127248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range per parameter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232136" y="1965960"/>
            <a:ext cx="685800" cy="685800"/>
          </a:xfrm>
          <a:prstGeom prst="ellipse">
            <a:avLst/>
          </a:prstGeom>
          <a:solidFill>
            <a:srgbClr val="E3E6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232136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9930384" y="2788920"/>
            <a:ext cx="1289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820656" y="3127248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market option data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8640" y="406908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F0F1F7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22960" y="4251960"/>
            <a:ext cx="2377440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7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7</a:t>
            </a:r>
            <a:endParaRPr lang="en-US" sz="40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5215738"/>
            <a:ext cx="237744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steps complete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429000" y="4343400"/>
            <a:ext cx="0" cy="1371600"/>
          </a:xfrm>
          <a:prstGeom prst="line">
            <a:avLst/>
          </a:prstGeom>
          <a:noFill/>
          <a:ln w="12700">
            <a:solidFill>
              <a:srgbClr val="D6DAE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611880" y="4251960"/>
            <a:ext cx="2377440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~250x</a:t>
            </a:r>
            <a:endParaRPr lang="en-US" sz="4000" dirty="0"/>
          </a:p>
        </p:txBody>
      </p:sp>
      <p:sp>
        <p:nvSpPr>
          <p:cNvPr id="42" name="Text 40"/>
          <p:cNvSpPr txBox="1"/>
          <p:nvPr/>
        </p:nvSpPr>
        <p:spPr>
          <a:xfrm>
            <a:off x="3611880" y="5215738"/>
            <a:ext cx="237744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calibration vs. baseline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17920" y="4343400"/>
            <a:ext cx="0" cy="1371600"/>
          </a:xfrm>
          <a:prstGeom prst="line">
            <a:avLst/>
          </a:prstGeom>
          <a:noFill/>
          <a:ln w="12700">
            <a:solidFill>
              <a:srgbClr val="D6DAE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00800" y="4251960"/>
            <a:ext cx="2377440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C77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~28%</a:t>
            </a:r>
            <a:endParaRPr lang="en-US" sz="40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215738"/>
            <a:ext cx="237744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standard-error reduction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006840" y="4343400"/>
            <a:ext cx="0" cy="1371600"/>
          </a:xfrm>
          <a:prstGeom prst="line">
            <a:avLst/>
          </a:prstGeom>
          <a:noFill/>
          <a:ln w="12700">
            <a:solidFill>
              <a:srgbClr val="D6DAE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89720" y="4251960"/>
            <a:ext cx="2377440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54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48" name="Text 46"/>
          <p:cNvSpPr txBox="1"/>
          <p:nvPr/>
        </p:nvSpPr>
        <p:spPr>
          <a:xfrm>
            <a:off x="9189720" y="5215738"/>
            <a:ext cx="237744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remaining: real-data validation</a:t>
            </a:r>
            <a:endParaRPr lang="en-US" sz="1200" dirty="0"/>
          </a:p>
        </p:txBody>
      </p:sp>
      <p:sp>
        <p:nvSpPr>
          <p:cNvPr id="49" name="Text 1"/>
          <p:cNvSpPr/>
          <p:nvPr>
            <p:ph idx="102" type="body" hasCustomPrompt="1"/>
          </p:nvPr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 1–2: Foundation &amp; Simulation</a:t>
            </a:r>
            <a:endParaRPr lang="en-US" sz="3000" dirty="0"/>
          </a:p>
        </p:txBody>
      </p:sp>
      <p:pic>
        <p:nvPicPr>
          <p:cNvPr id="3" name="Image 0" descr="/Users/vishwanathantamizharasan/option-pricing-heston/results/mc_con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17320"/>
            <a:ext cx="6217920" cy="2331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40680" y="37947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price converges to the Black-Scholes benchmark; antithetic variates shrink the standard-error band faster, for the same simulation budget.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4526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Black-Scholes closed-form pricer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via put-call parity — exact match.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under GBM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thousands of random price paths, average the discounted payoff — converges to Black-Scholes as path count grows.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Antithetic variates (variance reduction)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every random path with its negation and average the pair — cancels out simulation noise.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5166360"/>
            <a:ext cx="4526280" cy="1005840"/>
          </a:xfrm>
          <a:prstGeom prst="roundRect">
            <a:avLst>
              <a:gd name="adj" fmla="val 7273"/>
            </a:avLst>
          </a:prstGeom>
          <a:solidFill>
            <a:srgbClr val="EAF3E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85800" y="5230368"/>
            <a:ext cx="425196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7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~28% lower standard error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768950"/>
            <a:ext cx="425196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 of random draws spent</a:t>
            </a:r>
            <a:endParaRPr lang="en-US" sz="1200" dirty="0"/>
          </a:p>
        </p:txBody>
      </p:sp>
      <p:sp>
        <p:nvSpPr>
          <p:cNvPr id="9" name="Text 1"/>
          <p:cNvSpPr/>
          <p:nvPr>
            <p:ph idx="102" type="body" hasCustomPrompt="1"/>
          </p:nvPr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Realism — The Heston Model</a:t>
            </a:r>
            <a:endParaRPr lang="en-US" sz="3000" dirty="0"/>
          </a:p>
        </p:txBody>
      </p:sp>
      <p:pic>
        <p:nvPicPr>
          <p:cNvPr id="3" name="Image 0" descr="/Users/vishwanathantamizharasan/option-pricing-heston/results/vol_sm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5394960" cy="3840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303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volatility backed out of Heston prices, vs. the flat line Black-Scholes is structurally forced to produce.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172200" y="1463040"/>
            <a:ext cx="54864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itself becomes random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 = κ(θ − v)dt + ξ√v·dW₂, correlated with the stock's own shocks via ρ.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check: collapses to Black-Scholes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vol-of-vol ξ=0 reproduces the Black-Scholes price within 3 standard errors.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a genuine volatility skew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realistic equity parameters (ρ = −0.7), implied vol runs from 23.6% to 16.2% across strikes 75–130 — something Black-Scholes cannot do by construction.</a:t>
            </a:r>
            <a:endParaRPr lang="en-US" sz="15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5a: The Slow Way — Baseline Calibration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is the reverse problem: given a surface of market prices, find the Heston parameters that produced them. The traditional approach re-runs the simulator inside a numerical optimizer, strike by strike, iteration by iteration.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651760"/>
            <a:ext cx="3200400" cy="1737360"/>
          </a:xfrm>
          <a:prstGeom prst="roundRect">
            <a:avLst>
              <a:gd name="adj" fmla="val 4211"/>
            </a:avLst>
          </a:prstGeom>
          <a:solidFill>
            <a:srgbClr val="F0F1F7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788920"/>
            <a:ext cx="3200400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24351"/>
            <a:ext cx="320040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single calibration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931920" y="265176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0F1F7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931920" y="2788920"/>
            <a:ext cx="3291840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3724351"/>
            <a:ext cx="329184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re-simulations needed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6675120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68680" y="47548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finding worth reporting, not hiding: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507492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parameters don't exactly match the true ones, even though fitted prices are close. This is Heston's well-documented parameter non-identifiability — different parameter sets can explain the same market prices almost equally well.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589520" y="1417320"/>
            <a:ext cx="4069080" cy="4754880"/>
          </a:xfrm>
          <a:prstGeom prst="roundRect">
            <a:avLst>
              <a:gd name="adj" fmla="val 1798"/>
            </a:avLst>
          </a:prstGeom>
          <a:solidFill>
            <a:srgbClr val="FBF3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90956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A6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909560" y="205740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single calibrated number quietly hides this ambiguity. That's exactly the gap our project is built to close — report a confidence range, not a false sense of certainty.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909560" y="493776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directly motivates Steps 5b–6: an ML calibrator that is both fast and upfront about what it doesn't know.</a:t>
            </a:r>
            <a:endParaRPr lang="en-US" sz="1200" dirty="0"/>
          </a:p>
        </p:txBody>
      </p:sp>
      <p:sp>
        <p:nvSpPr>
          <p:cNvPr id="17" name="Text 1"/>
          <p:cNvSpPr/>
          <p:nvPr>
            <p:ph idx="102" type="body" hasCustomPrompt="1"/>
          </p:nvPr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 4–6: Faster, and Honest About Uncertainty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0F1F7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618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data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random parameter sets, priced across 7 strikes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96596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37560" y="150876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74720" y="1618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model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Forest: price surface → parameters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196596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26480" y="150876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0F1F7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263640" y="1618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ensemble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200 trees votes — spread = confidence range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1965960"/>
            <a:ext cx="137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915400" y="150876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0F1F7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052560" y="1618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905256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it to price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range → final option price range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2004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EAF3E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548640" y="3310128"/>
            <a:ext cx="3520440" cy="8220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F7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 ms</a:t>
            </a:r>
            <a:endParaRPr lang="en-US" sz="3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132174"/>
            <a:ext cx="352044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calibration time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51960" y="32004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0F1F7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251960" y="3310128"/>
            <a:ext cx="3520440" cy="8220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~250x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4251960" y="4132174"/>
            <a:ext cx="352044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the baseline optimizer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955280" y="3200400"/>
            <a:ext cx="3703320" cy="1508760"/>
          </a:xfrm>
          <a:prstGeom prst="roundRect">
            <a:avLst>
              <a:gd name="adj" fmla="val 4848"/>
            </a:avLst>
          </a:prstGeom>
          <a:solidFill>
            <a:srgbClr val="F0F1F7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955280" y="3310128"/>
            <a:ext cx="3703320" cy="8220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C77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400" dirty="0"/>
          </a:p>
        </p:txBody>
      </p:sp>
      <p:sp>
        <p:nvSpPr>
          <p:cNvPr id="30" name="Text 28"/>
          <p:cNvSpPr txBox="1"/>
          <p:nvPr/>
        </p:nvSpPr>
        <p:spPr>
          <a:xfrm>
            <a:off x="7955280" y="4132174"/>
            <a:ext cx="370332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range on every parameter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1099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868680" y="5047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deliverable, in the field's own words: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532180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“Fair price ≈ ₹10.40, likely between ₹8.89 and ₹11.88.”</a:t>
            </a:r>
            <a:endParaRPr lang="en-US" sz="2200" dirty="0"/>
          </a:p>
        </p:txBody>
      </p:sp>
      <p:sp>
        <p:nvSpPr>
          <p:cNvPr id="34" name="Text 1"/>
          <p:cNvSpPr/>
          <p:nvPr>
            <p:ph idx="102" type="body" hasCustomPrompt="1"/>
          </p:nvPr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Left: Step 7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572000"/>
          </a:xfrm>
          <a:prstGeom prst="roundRect">
            <a:avLst>
              <a:gd name="adj" fmla="val 1600"/>
            </a:avLst>
          </a:prstGeom>
          <a:solidFill>
            <a:srgbClr val="F0F1F7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REAL MARKET DATA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a real options chain (e.g. NSE/Yahoo Finance)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same calibration pipeline on live market prices instead of synthetic ones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our confidence ranges actually contain the true market-consistent prices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ML calibrator vs. baseline optimizer on real, noisier data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26480" y="14630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REPRODUCIBLE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2402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for Steps 1–6 is written, tested, and documented — open to inspection, not just described in slides.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92240" y="3246120"/>
            <a:ext cx="4846320" cy="914400"/>
          </a:xfrm>
          <a:prstGeom prst="roundRect">
            <a:avLst>
              <a:gd name="adj" fmla="val 8000"/>
            </a:avLst>
          </a:prstGeom>
          <a:solidFill>
            <a:srgbClr val="151B3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675120" y="3364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github.com/pastbologanesh0101/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option-pricing-heston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434340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Python modules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progress write-up (PROGRESS.md)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6,000-row training dataset included</a:t>
            </a:r>
            <a:endParaRPr lang="en-US" sz="1300" dirty="0"/>
          </a:p>
        </p:txBody>
      </p:sp>
      <p:sp>
        <p:nvSpPr>
          <p:cNvPr id="13" name="Text 1"/>
          <p:cNvSpPr/>
          <p:nvPr>
            <p:ph idx="102" type="body" hasCustomPrompt="1"/>
          </p:nvPr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46920" y="4206240"/>
            <a:ext cx="2011680" cy="2011680"/>
          </a:xfrm>
          <a:prstGeom prst="ellipse">
            <a:avLst/>
          </a:prstGeom>
          <a:solidFill>
            <a:srgbClr val="2A3570"/>
          </a:solidFill>
          <a:ln/>
        </p:spPr>
      </p:sp>
      <p:sp>
        <p:nvSpPr>
          <p:cNvPr id="3" name="Shape 1"/>
          <p:cNvSpPr/>
          <p:nvPr/>
        </p:nvSpPr>
        <p:spPr>
          <a:xfrm>
            <a:off x="10012680" y="4572000"/>
            <a:ext cx="1280160" cy="12801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3774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— code, data, and results are all open for review.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github.com/pastbologanesh0101/option-pricing-heston</a:t>
            </a:r>
            <a:endParaRPr lang="en-US" sz="14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731520" y="2514600"/>
            <a:ext cx="9326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731520" y="397764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Gold">
  <a:themeElements>
    <a:clrScheme name="MidnightGold">
      <a:dk1>
        <a:srgbClr val="1B1F3B"/>
      </a:dk1>
      <a:lt1>
        <a:srgbClr val="FFFFFF"/>
      </a:lt1>
      <a:dk2>
        <a:srgbClr val="1E2761"/>
      </a:dk2>
      <a:lt2>
        <a:srgbClr val="F0F1F7"/>
      </a:lt2>
      <a:accent1>
        <a:srgbClr val="C9A227"/>
      </a:accent1>
      <a:accent2>
        <a:srgbClr val="1E2761"/>
      </a:accent2>
      <a:accent3>
        <a:srgbClr val="5C77B5"/>
      </a:accent3>
      <a:accent4>
        <a:srgbClr val="2F7D5C"/>
      </a:accent4>
      <a:accent5>
        <a:srgbClr val="8A93A8"/>
      </a:accent5>
      <a:accent6>
        <a:srgbClr val="B5473A"/>
      </a:accent6>
      <a:hlink>
        <a:srgbClr val="C9A227"/>
      </a:hlink>
      <a:folHlink>
        <a:srgbClr val="8A93A8"/>
      </a:folHlink>
    </a:clrScheme>
    <a:fontScheme name="MidnightGold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Option Pricing Under Stochastic Volatility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Option Pricing Under Stochastic Volatility - Review 2</dc:title>
  <dc:subject>PptxGenJS Presentation</dc:subject>
  <dc:creator>Rikhil Modalavalasa &amp; Vishwanathan</dc:creator>
  <cp:lastModifiedBy>Rikhil Modalavalasa &amp; Vishwanathan</cp:lastModifiedBy>
  <cp:revision>1</cp:revision>
  <dcterms:created xsi:type="dcterms:W3CDTF">2026-10-22T17:30:48Z</dcterms:created>
  <dcterms:modified xsi:type="dcterms:W3CDTF">2026-10-22T17:30:48Z</dcterms:modified>
</cp:coreProperties>
</file>