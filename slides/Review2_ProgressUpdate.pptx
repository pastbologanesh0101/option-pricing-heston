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9326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77640"/>
            <a:ext cx="9692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Pricing Under Stochastic Volatility  |  Review 2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02920"/>
            <a:ext cx="2011680" cy="2011680"/>
          </a:xfrm>
          <a:prstGeom prst="ellipse">
            <a:avLst/>
          </a:prstGeom>
          <a:solidFill>
            <a:srgbClr val="2A3570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868680"/>
            <a:ext cx="1280160" cy="1280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PROGRESS UPDATE</a:t>
            </a:r>
            <a:endParaRPr lang="en-US" sz="14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731520" y="251460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Pricing Under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 Volatility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731520" y="39776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Heston Model and Machine Learning to Make Option Pricing Faster and More Honest About Its Own Uncertainty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7607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Rikhil Modalavalasa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25BCE2884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Vishwanathan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8A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25BCE2885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10% to 70%: What Changed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 — the idea, on paper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+ motivation slides only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written yet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defined (7 steps), untested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—  TODAY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 — a working, verified pipeline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6517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 roadmap steps implemented and tested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checked against a known benchmark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ML calibrator with honest uncertainty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 pushed to a public GitHub repo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github.com/pastbologanesh0101/option-pricing-heston</a:t>
            </a:r>
            <a:endParaRPr lang="en-US" sz="1100" dirty="0"/>
          </a:p>
        </p:txBody>
      </p:sp>
      <p:sp>
        <p:nvSpPr>
          <p:cNvPr id="12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7-Step Roadmap: Status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2308860"/>
            <a:ext cx="905256" cy="0"/>
          </a:xfrm>
          <a:prstGeom prst="line">
            <a:avLst/>
          </a:prstGeom>
          <a:noFill/>
          <a:ln w="25400">
            <a:solidFill>
              <a:srgbClr val="D6DAE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685800" y="1965960"/>
            <a:ext cx="685800" cy="68580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788920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+ Black-Scholes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62656" y="2308860"/>
            <a:ext cx="905256" cy="0"/>
          </a:xfrm>
          <a:prstGeom prst="line">
            <a:avLst/>
          </a:prstGeom>
          <a:noFill/>
          <a:ln w="25400">
            <a:solidFill>
              <a:srgbClr val="D6DAE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276856" y="1965960"/>
            <a:ext cx="685800" cy="68580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76856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975104" y="2788920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865376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+ variance reduction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53712" y="2308860"/>
            <a:ext cx="905256" cy="0"/>
          </a:xfrm>
          <a:prstGeom prst="line">
            <a:avLst/>
          </a:prstGeom>
          <a:noFill/>
          <a:ln w="25400">
            <a:solidFill>
              <a:srgbClr val="D6DAE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867912" y="1965960"/>
            <a:ext cx="685800" cy="68580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67912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788920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Realism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56432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Heston stochastic volatility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2308860"/>
            <a:ext cx="905256" cy="0"/>
          </a:xfrm>
          <a:prstGeom prst="line">
            <a:avLst/>
          </a:prstGeom>
          <a:noFill/>
          <a:ln w="25400">
            <a:solidFill>
              <a:srgbClr val="D6DAE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58968" y="1965960"/>
            <a:ext cx="685800" cy="68580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58968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157216" y="2788920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047488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6,000-sample training set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35824" y="2308860"/>
            <a:ext cx="905256" cy="0"/>
          </a:xfrm>
          <a:prstGeom prst="line">
            <a:avLst/>
          </a:prstGeom>
          <a:noFill/>
          <a:ln w="25400">
            <a:solidFill>
              <a:srgbClr val="D6DAE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7050024" y="1965960"/>
            <a:ext cx="685800" cy="68580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50024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748272" y="2788920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38544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+ ML, prices → params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326880" y="2308860"/>
            <a:ext cx="905256" cy="0"/>
          </a:xfrm>
          <a:prstGeom prst="line">
            <a:avLst/>
          </a:prstGeom>
          <a:noFill/>
          <a:ln w="25400">
            <a:solidFill>
              <a:srgbClr val="D6DAE6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641080" y="1965960"/>
            <a:ext cx="685800" cy="685800"/>
          </a:xfrm>
          <a:prstGeom prst="ellipse">
            <a:avLst/>
          </a:prstGeom>
          <a:solidFill>
            <a:srgbClr val="2F7D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410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2788920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range per parameter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32136" y="196596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232136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9930384" y="2788920"/>
            <a:ext cx="1289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820656" y="312724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 pulled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406908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2960" y="4251960"/>
            <a:ext cx="23774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7</a:t>
            </a:r>
            <a:endParaRPr lang="en-US" sz="40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215738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steps complete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429000" y="4343400"/>
            <a:ext cx="0" cy="1371600"/>
          </a:xfrm>
          <a:prstGeom prst="line">
            <a:avLst/>
          </a:prstGeom>
          <a:noFill/>
          <a:ln w="12700">
            <a:solidFill>
              <a:srgbClr val="D6DA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11880" y="4251960"/>
            <a:ext cx="23774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~250x</a:t>
            </a:r>
            <a:endParaRPr lang="en-US" sz="4000" dirty="0"/>
          </a:p>
        </p:txBody>
      </p:sp>
      <p:sp>
        <p:nvSpPr>
          <p:cNvPr id="42" name="Text 40"/>
          <p:cNvSpPr txBox="1"/>
          <p:nvPr/>
        </p:nvSpPr>
        <p:spPr>
          <a:xfrm>
            <a:off x="3611880" y="5215738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calibration vs. baseline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17920" y="4343400"/>
            <a:ext cx="0" cy="1371600"/>
          </a:xfrm>
          <a:prstGeom prst="line">
            <a:avLst/>
          </a:prstGeom>
          <a:noFill/>
          <a:ln w="12700">
            <a:solidFill>
              <a:srgbClr val="D6DA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0800" y="4251960"/>
            <a:ext cx="23774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C7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~28%</a:t>
            </a:r>
            <a:endParaRPr lang="en-US" sz="40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0" y="5215738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standard-error reduction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006840" y="4343400"/>
            <a:ext cx="0" cy="1371600"/>
          </a:xfrm>
          <a:prstGeom prst="line">
            <a:avLst/>
          </a:prstGeom>
          <a:noFill/>
          <a:ln w="12700">
            <a:solidFill>
              <a:srgbClr val="D6DA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189720" y="4251960"/>
            <a:ext cx="2377440" cy="96377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600" dirty="0"/>
          </a:p>
        </p:txBody>
      </p:sp>
      <p:sp>
        <p:nvSpPr>
          <p:cNvPr id="48" name="Text 46"/>
          <p:cNvSpPr txBox="1"/>
          <p:nvPr/>
        </p:nvSpPr>
        <p:spPr>
          <a:xfrm>
            <a:off x="9189720" y="5215738"/>
            <a:ext cx="237744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underway: real SPY data pulled</a:t>
            </a:r>
            <a:endParaRPr lang="en-US" sz="1200" dirty="0"/>
          </a:p>
        </p:txBody>
      </p:sp>
      <p:sp>
        <p:nvSpPr>
          <p:cNvPr id="49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1–2: Foundation &amp; Simulation</a:t>
            </a:r>
            <a:endParaRPr lang="en-US" sz="3000" dirty="0"/>
          </a:p>
        </p:txBody>
      </p:sp>
      <p:pic>
        <p:nvPicPr>
          <p:cNvPr id="3" name="Image 0" descr="/Users/vishwanathantamizharasan/option-pricing-heston/results/mc_converg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17320"/>
            <a:ext cx="6217920" cy="2331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40680" y="379476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price converges to the Black-Scholes benchmark; antithetic variates shrink the standard-error band faster, for the same simulation budget.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45262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 closed-form pricer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via put-call parity — exact match.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under GBM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thousands of random price paths, average the discounted payoff — converges to Black-Scholes as path count grows.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Antithetic variates (variance reduction)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every random path with its negation and average the pair — cancels out simulation noise.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166360"/>
            <a:ext cx="4526280" cy="1005840"/>
          </a:xfrm>
          <a:prstGeom prst="roundRect">
            <a:avLst>
              <a:gd name="adj" fmla="val 7273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85800" y="5230368"/>
            <a:ext cx="42519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~28% lower standard error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768950"/>
            <a:ext cx="425196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random draws spent</a:t>
            </a:r>
            <a:endParaRPr lang="en-US" sz="1200" dirty="0"/>
          </a:p>
        </p:txBody>
      </p:sp>
      <p:sp>
        <p:nvSpPr>
          <p:cNvPr id="9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Realism — The Heston Model</a:t>
            </a:r>
            <a:endParaRPr lang="en-US" sz="3000" dirty="0"/>
          </a:p>
        </p:txBody>
      </p:sp>
      <p:pic>
        <p:nvPicPr>
          <p:cNvPr id="3" name="Image 0" descr="/Users/vishwanathantamizharasan/option-pricing-heston/results/vol_sm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394960" cy="3840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3035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volatility backed out of Heston prices, vs. the flat line Black-Scholes is structurally forced to produce.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172200" y="1463040"/>
            <a:ext cx="54864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itself becomes random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= κ(θ − v)dt + ξ√v·dW₂, correlated with the stock's own shocks via ρ.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check: collapses to Black-Scholes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vol-of-vol ξ=0 reproduces the Black-Scholes price within 3 standard errors.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genuine volatility skew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realistic equity parameters (ρ = −0.7), implied vol runs from 23.6% to 16.2% across strikes 75–130 — something Black-Scholes cannot do by construction.</a:t>
            </a:r>
            <a:endParaRPr lang="en-US" sz="15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5a: The Slow Way — Baseline Calibration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is the reverse problem: given a surface of market prices, find the Heston parameters that produced them. The traditional approach re-runs the simulator inside a numerical optimizer, strike by strike, iteration by iteration.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3200400" cy="1737360"/>
          </a:xfrm>
          <a:prstGeom prst="roundRect">
            <a:avLst>
              <a:gd name="adj" fmla="val 4211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788920"/>
            <a:ext cx="3200400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24351"/>
            <a:ext cx="320040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single calibration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26517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931920" y="2788920"/>
            <a:ext cx="3291840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724351"/>
            <a:ext cx="3291840" cy="573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re-simulations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667512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7548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worth reporting, not hiding: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074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parameters don't exactly match the true ones, even though fitted prices are close. This is Heston's well-documented parameter non-identifiability — different parameter sets can explain the same market prices almost equally well.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1417320"/>
            <a:ext cx="4069080" cy="4754880"/>
          </a:xfrm>
          <a:prstGeom prst="roundRect">
            <a:avLst>
              <a:gd name="adj" fmla="val 1798"/>
            </a:avLst>
          </a:prstGeom>
          <a:solidFill>
            <a:srgbClr val="FBF3D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A6D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single calibrated number quietly hides this ambiguity. That's exactly the gap our project is built to close — report a confidence range, not a false sense of certainty.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493776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motivates Steps 5b–6: an ML calibrator that is both fast and upfront about what it doesn't know.</a:t>
            </a:r>
            <a:endParaRPr lang="en-US" sz="1200" dirty="0"/>
          </a:p>
        </p:txBody>
      </p:sp>
      <p:sp>
        <p:nvSpPr>
          <p:cNvPr id="17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4–6: Faster, and Honest About Uncertainty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data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random parameter sets, priced across 7 strikes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965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3756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7472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model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price surface → parameters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1965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26364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ensemble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200 trees votes — spread = confidence range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778240" y="196596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15400" y="150876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052560" y="1618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it to price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23774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range → final option price range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2004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EAF3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48640" y="3310128"/>
            <a:ext cx="352044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7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 ms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132174"/>
            <a:ext cx="35204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calibration time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320040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251960" y="3310128"/>
            <a:ext cx="352044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~250x</a:t>
            </a:r>
            <a:endParaRPr lang="en-US" sz="3400" dirty="0"/>
          </a:p>
        </p:txBody>
      </p:sp>
      <p:sp>
        <p:nvSpPr>
          <p:cNvPr id="27" name="Text 25"/>
          <p:cNvSpPr txBox="1"/>
          <p:nvPr/>
        </p:nvSpPr>
        <p:spPr>
          <a:xfrm>
            <a:off x="4251960" y="4132174"/>
            <a:ext cx="352044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the baseline optimizer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955280" y="3200400"/>
            <a:ext cx="3703320" cy="1508760"/>
          </a:xfrm>
          <a:prstGeom prst="roundRect">
            <a:avLst>
              <a:gd name="adj" fmla="val 4848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955280" y="3310128"/>
            <a:ext cx="370332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C77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34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0" y="4132174"/>
            <a:ext cx="3703320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range on every parameter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5047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deliverable, in the field's own words: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532180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“Fair price ≈ ₹10.40, likely between ₹8.89 and ₹11.88.”</a:t>
            </a:r>
            <a:endParaRPr lang="en-US" sz="2200" dirty="0"/>
          </a:p>
        </p:txBody>
      </p:sp>
      <p:sp>
        <p:nvSpPr>
          <p:cNvPr id="34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7, Started: Real Market Data</a:t>
            </a:r>
            <a:endParaRPr lang="en-US" sz="3000" dirty="0"/>
          </a:p>
        </p:txBody>
      </p:sp>
      <p:pic>
        <p:nvPicPr>
          <p:cNvPr id="3" name="Image 0" descr="/Users/vishwanathantamizharasan/option-pricing-heston/results/real_vs_synthetic_sk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486400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72200" y="5193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SPY options chain (yfinance), ~30 days to expiry, 123 liquid strikes — pulled minutes before this slide was built.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53949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market shows the same skew direction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slope, confirmed: implied vol runs from ~49% down to ~13% near the money — real markets are structurally non-flat, exactly as predicted.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caveat: not apples-to-apples (yet)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real chain is ~29 days to expiry vs. 1 year for our synthetic example — short-dated skews run naturally steeper. Compare shape, not scale.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attempted: NSE India (NIFTY)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NSE's bot detection — a known, documented limitation, not hidden. yfinance/SPY is the reliable path we kept.</a:t>
            </a:r>
            <a:endParaRPr lang="en-US" sz="1500" dirty="0"/>
          </a:p>
        </p:txBody>
      </p:sp>
      <p:sp>
        <p:nvSpPr>
          <p:cNvPr id="6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Left to Finish Step 7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F0F1F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SHAPE-MATCHING TO TRUE CALIBRATION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 live SPY chain into calibration.py / ml_calibration.py directly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Heston parameters that actually fit today's market, not just compare shapes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our confidence ranges actually contain the true market-consistent prices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calibrator vs. baseline optimizer on real, noisier 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463040"/>
            <a:ext cx="553212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REPRODUCIBLE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2402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for Steps 1–6 is written, tested, and documented — open to inspection, not just described in slides.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32461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51B38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33649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github.com/pastbologanesh0101/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option-pricing-heston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43434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Python modules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progress write-up (PROGRESS.md)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6,000-row training dataset included</a:t>
            </a:r>
            <a:endParaRPr lang="en-US" sz="1300" dirty="0"/>
          </a:p>
        </p:txBody>
      </p:sp>
      <p:sp>
        <p:nvSpPr>
          <p:cNvPr id="13" name="Text 1"/>
          <p:cNvSpPr/>
          <p:nvPr>
            <p:ph idx="102" type="body" hasCustomPrompt="1"/>
          </p:nvPr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206240"/>
            <a:ext cx="2011680" cy="2011680"/>
          </a:xfrm>
          <a:prstGeom prst="ellipse">
            <a:avLst/>
          </a:prstGeom>
          <a:solidFill>
            <a:srgbClr val="2A3570"/>
          </a:solidFill>
          <a:ln/>
        </p:spPr>
      </p:sp>
      <p:sp>
        <p:nvSpPr>
          <p:cNvPr id="3" name="Shape 1"/>
          <p:cNvSpPr/>
          <p:nvPr/>
        </p:nvSpPr>
        <p:spPr>
          <a:xfrm>
            <a:off x="10012680" y="4572000"/>
            <a:ext cx="1280160" cy="12801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 — code, data, and results are all open for review.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github.com/pastbologanesh0101/option-pricing-heston</a:t>
            </a:r>
            <a:endParaRPr lang="en-US" sz="14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731520" y="2514600"/>
            <a:ext cx="9326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8" name="Text 0"/>
          <p:cNvSpPr/>
          <p:nvPr>
            <p:ph idx="101" type="body" hasCustomPrompt="1"/>
          </p:nvPr>
        </p:nvSpPr>
        <p:spPr>
          <a:xfrm>
            <a:off x="731520" y="397764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Gold">
  <a:themeElements>
    <a:clrScheme name="MidnightGold">
      <a:dk1>
        <a:srgbClr val="1B1F3B"/>
      </a:dk1>
      <a:lt1>
        <a:srgbClr val="FFFFFF"/>
      </a:lt1>
      <a:dk2>
        <a:srgbClr val="1E2761"/>
      </a:dk2>
      <a:lt2>
        <a:srgbClr val="F0F1F7"/>
      </a:lt2>
      <a:accent1>
        <a:srgbClr val="C9A227"/>
      </a:accent1>
      <a:accent2>
        <a:srgbClr val="1E2761"/>
      </a:accent2>
      <a:accent3>
        <a:srgbClr val="5C77B5"/>
      </a:accent3>
      <a:accent4>
        <a:srgbClr val="2F7D5C"/>
      </a:accent4>
      <a:accent5>
        <a:srgbClr val="8A93A8"/>
      </a:accent5>
      <a:accent6>
        <a:srgbClr val="B5473A"/>
      </a:accent6>
      <a:hlink>
        <a:srgbClr val="C9A227"/>
      </a:hlink>
      <a:folHlink>
        <a:srgbClr val="8A93A8"/>
      </a:folHlink>
    </a:clrScheme>
    <a:fontScheme name="MidnightGold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Option Pricing Under Stochastic Volatility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Pricing Under Stochastic Volatility - Review 2</dc:title>
  <dc:subject>PptxGenJS Presentation</dc:subject>
  <dc:creator>Rikhil Modalavalasa &amp; Vishwanathan</dc:creator>
  <cp:lastModifiedBy>Rikhil Modalavalasa &amp; Vishwanathan</cp:lastModifiedBy>
  <cp:revision>1</cp:revision>
  <dcterms:created xsi:type="dcterms:W3CDTF">2026-10-22T18:06:40Z</dcterms:created>
  <dcterms:modified xsi:type="dcterms:W3CDTF">2026-10-22T18:06:40Z</dcterms:modified>
</cp:coreProperties>
</file>